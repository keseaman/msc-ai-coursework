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SLAM-Based Mapping Robot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38BDF8"/>
                </a:solidFill>
                <a:latin typeface="Calibri"/>
              </a:defRPr>
            </a:pPr>
            <a:r>
              <a:t>Perception &amp; Kinematics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3383280"/>
            <a:ext cx="27432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BD5E1"/>
                </a:solidFill>
                <a:latin typeface="Calibri"/>
              </a:defRPr>
            </a:pPr>
            <a:r>
              <a:t>Kinyua Seaman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SCT315-1982/2025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MSc Artificial Intelligence  •  Robotics Module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May 2026  •  Simulation-Based Coursework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&amp;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50292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The SLAM Problem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A mobile robot must simultaneously: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• Build a map of an unknown environment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• Track its own position within that map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1000"/>
              </a:spcBef>
              <a:spcAft>
                <a:spcPts val="200"/>
              </a:spcAft>
              <a:defRPr sz="1600" b="1">
                <a:solidFill>
                  <a:srgbClr val="FB923C"/>
                </a:solidFill>
                <a:latin typeface="Calibri"/>
              </a:defRPr>
            </a:pPr>
            <a:r>
              <a:t>The Circular Dependency: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Accurate mapping needs a good pose estimate,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yet accurate localisation needs a good map.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280160"/>
            <a:ext cx="5303520" cy="50292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Calibri"/>
              </a:defRPr>
            </a:pPr>
            <a:r>
              <a:t>Our Approach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Custom from-scratch 2D simulation in Python: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4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1. Differential-drive kinematics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   with stochastic odometry noise (α₁–α₄)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2. 2D LiDAR ray-casting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   72 rays, 2π FOV, Gaussian sensor noise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3. Log-odds occupancy grid mapping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   Bresenham ray tracing, Bayesian updates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4. Proportional waypoint controller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   8 waypoints, heading-gated velocity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 &amp; Key Equations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4114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50292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Modular Design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4ADE80"/>
                </a:solidFill>
                <a:latin typeface="Calibri"/>
              </a:defRPr>
            </a:pPr>
            <a:r>
              <a:t>environment.py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50×50m grid world + LiDAR ray-casting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600" b="1">
                <a:solidFill>
                  <a:srgbClr val="4ADE80"/>
                </a:solidFill>
                <a:latin typeface="Calibri"/>
              </a:defRPr>
            </a:pPr>
            <a:r>
              <a:t>robot.py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Differential drive kinematics + noisy odometry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600" b="1">
                <a:solidFill>
                  <a:srgbClr val="4ADE80"/>
                </a:solidFill>
                <a:latin typeface="Calibri"/>
              </a:defRPr>
            </a:pPr>
            <a:r>
              <a:t>slam.py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Log-odds occupancy grid + Bresenham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600" b="1">
                <a:solidFill>
                  <a:srgbClr val="4ADE80"/>
                </a:solidFill>
                <a:latin typeface="Calibri"/>
              </a:defRPr>
            </a:pPr>
            <a:r>
              <a:t>main.py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Simulation loop, controller, visualization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1000"/>
              </a:spcBef>
              <a:spcAft>
                <a:spcPts val="200"/>
              </a:spcAft>
              <a:defRPr sz="1600" b="1">
                <a:solidFill>
                  <a:srgbClr val="FB923C"/>
                </a:solidFill>
                <a:latin typeface="Calibri"/>
              </a:defRPr>
            </a:pPr>
            <a:r>
              <a:t>Data Flow: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Controller → Robot (true + noisy pose)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→ Environment (LiDAR from true pose)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→ SLAM (update grid with est. pose + scan)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280160"/>
            <a:ext cx="5303520" cy="50292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Key Equations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4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400" b="1">
                <a:solidFill>
                  <a:srgbClr val="FB923C"/>
                </a:solidFill>
                <a:latin typeface="Calibri"/>
              </a:defRPr>
            </a:pPr>
            <a:r>
              <a:t>Arc Motion Model (ω ≠ 0):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CBD5E1"/>
                </a:solidFill>
                <a:latin typeface="Consolas"/>
              </a:defRPr>
            </a:pPr>
            <a:r>
              <a:t>x' = x − (v/ω)sinθ + (v/ω)sin(θ + ωΔt)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CBD5E1"/>
                </a:solidFill>
                <a:latin typeface="Consolas"/>
              </a:defRPr>
            </a:pPr>
            <a:r>
              <a:t>y' = y + (v/ω)cosθ − (v/ω)cos(θ + ωΔt)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4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FB923C"/>
                </a:solidFill>
                <a:latin typeface="Calibri"/>
              </a:defRPr>
            </a:pPr>
            <a:r>
              <a:t>Odometry Noise (Thrun et al.):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CBD5E1"/>
                </a:solidFill>
                <a:latin typeface="Consolas"/>
              </a:defRPr>
            </a:pPr>
            <a:r>
              <a:t>v̂ = v + ε,  ε ~ N(0, α₁v² + α₂ω²)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CBD5E1"/>
                </a:solidFill>
                <a:latin typeface="Consolas"/>
              </a:defRPr>
            </a:pPr>
            <a:r>
              <a:t>ω̂ = ω + ε,  ε ~ N(0, α₃v² + α₄ω²)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4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FB923C"/>
                </a:solidFill>
                <a:latin typeface="Calibri"/>
              </a:defRPr>
            </a:pPr>
            <a:r>
              <a:t>Log-Odds Bayesian Update: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CBD5E1"/>
                </a:solidFill>
                <a:latin typeface="Consolas"/>
              </a:defRPr>
            </a:pPr>
            <a:r>
              <a:t>l(cell) = l(cell) + l_inv − l₀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94A3B8"/>
                </a:solidFill>
                <a:latin typeface="Consolas"/>
              </a:defRPr>
            </a:pPr>
            <a:r>
              <a:t>l_occ  = log(0.7/0.3) ≈  0.847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94A3B8"/>
                </a:solidFill>
                <a:latin typeface="Consolas"/>
              </a:defRPr>
            </a:pPr>
            <a:r>
              <a:t>l_free = log(0.3/0.7) ≈ −0.847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4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FB923C"/>
                </a:solidFill>
                <a:latin typeface="Calibri"/>
              </a:defRPr>
            </a:pPr>
            <a:r>
              <a:t>Probability Recovery: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CBD5E1"/>
                </a:solidFill>
                <a:latin typeface="Consolas"/>
              </a:defRPr>
            </a:pPr>
            <a:r>
              <a:t>P(occ) = 1 − 1/(1 + exp(l))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Simulation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5603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Step 0 — Initial State</a:t>
            </a:r>
          </a:p>
        </p:txBody>
      </p:sp>
      <p:pic>
        <p:nvPicPr>
          <p:cNvPr id="6" name="Picture 5" descr="step_0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5029200" cy="2011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1188720"/>
            <a:ext cx="5486400" cy="256032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34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Step 500 — Mid-Exploration</a:t>
            </a:r>
          </a:p>
        </p:txBody>
      </p:sp>
      <p:pic>
        <p:nvPicPr>
          <p:cNvPr id="9" name="Picture 8" descr="step_05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5029200" cy="20116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3931920"/>
            <a:ext cx="8046720" cy="283464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9776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Final Map — Completed Exploration</a:t>
            </a:r>
          </a:p>
        </p:txBody>
      </p:sp>
      <p:pic>
        <p:nvPicPr>
          <p:cNvPr id="12" name="Picture 11" descr="final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389120"/>
            <a:ext cx="7680960" cy="22860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778240" y="3931920"/>
            <a:ext cx="3108960" cy="283464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4023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Calibri"/>
              </a:defRPr>
            </a:pPr>
            <a:r>
              <a:t>Key Observations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4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Wall structure clearly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recognisable in SLAM map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4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Odometry drift causes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progressive map distortion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4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Free-space mapping is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robust via Bresenham tracing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4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MSE grows monotonically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(no pose correction)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50292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Calibri"/>
              </a:defRPr>
            </a:pPr>
            <a:r>
              <a:t>What We Demonstrated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✓ Full-stack SLAM pipeline from first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   principles (no ROS/Gazebo)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✓ Physically principled noise models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   (Thrun et al. α₁–α₄ parameters)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✓ Correct sensor–map separation: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   LiDAR from true pose, map from est. pose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✓ Recognisable map despite drift —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   motivates need for pose correction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✓ Reproducible simulation (seed 42)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1000"/>
              </a:spcBef>
              <a:spcAft>
                <a:spcPts val="200"/>
              </a:spcAft>
              <a:defRPr sz="1600" b="1">
                <a:solidFill>
                  <a:srgbClr val="FB923C"/>
                </a:solidFill>
                <a:latin typeface="Calibri"/>
              </a:defRPr>
            </a:pPr>
            <a:r>
              <a:t>Core Takeaway: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Dead-reckoning alone is insufficient —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pose correction is essential for true SLAM.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280160"/>
            <a:ext cx="5303520" cy="5029200"/>
          </a:xfrm>
          <a:prstGeom prst="roundRect">
            <a:avLst/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Future Extensions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FB923C"/>
                </a:solidFill>
                <a:latin typeface="Calibri"/>
              </a:defRPr>
            </a:pPr>
            <a:r>
              <a:t>Immediate: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→ Scan matching (ICP / Correlative)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 Correct pose from consecutive scans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→ Log-odds clamping (l ∈ [−5, 5])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 Prevent saturation, allow dynamic maps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→ EKF integration for pose covariance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1000"/>
              </a:spcBef>
              <a:spcAft>
                <a:spcPts val="200"/>
              </a:spcAft>
              <a:defRPr sz="1600" b="1">
                <a:solidFill>
                  <a:srgbClr val="FB923C"/>
                </a:solidFill>
                <a:latin typeface="Calibri"/>
              </a:defRPr>
            </a:pPr>
            <a:r>
              <a:t>Advanced: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→ Particle filter (FastSLAM)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→ Frontier-based autonomous exploration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→ Loop closure detection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CBD5E1"/>
                </a:solidFill>
                <a:latin typeface="Calibri"/>
              </a:defRPr>
            </a:pPr>
            <a:r>
              <a:t>→ 3D voxel extension (OctoMap)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12280"/>
            <a:ext cx="12191695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